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2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Architettura verificata il 18/10/2026 su lab.conf, container attivi e tr069_validator_agent.py. CWMP 7557 e NBI 7547 sono due servizi distinti. tcpdump acquisisce HTTP dalla rete host in un helper temporaneo; tshark decodifica, deduplica e isola le sessioni. Wireshark è installato sul server e può aprire il file PCAP da una sessione grafica. Il tratteggio rappresenta osservazione passiva, senza modifica del traffico.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Flusso verificato nel codice del validator. Tre Inform consentono di misurare due cicli. Il programma verifica risposta SOAP InformResponse con HTTP 200 nello stesso stream e ID SOAP, RetryCount 0 e configurazione coerente; accetta evidenze recenti, entro un’ora. Non confondere la cadenza PeriodicInformInterval con il test di fase PeriodicInformTime. Le scritture richiedono --tol-active e prevedono GPV e ripristino.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Proposta richiesta dall’utente, non funzione attualmente implementata nel validator. Il prodotto cartesiano comprende ordine A/B o B/A e ritardo 5 s o 300 s, per quattro casi. A e B identificano IDU e ODU nella proposta, adattabili alla coppia reale. Ogni caso riparte con entrambi spenti. Prima di sviluppare: definire comando affidabile di accensione/spegnimento, eventuale tempo minimo da spento, criterio di dialogo, timeout, numero di ripetizioni, topologia e raccolta log. I tempi vanno misurati sull’evento reale di alimentazione. Numero di prove: 4 × coppie × ripetizioni, eventualmente esteso alle versioni firmware.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Proposte di sviluppo, non test eseguiti in questa attività. Il laboratorio attuale non viene interrotto o modificato. Gli scenari richiedono un segmento di test controllabile, un meccanismo di ripristino e un timeout concordato. Un guasto DNS ha effetto solo sui servizi che usano nomi e deve tenere conto della cache. Il collegamento IDU–ODU è un futuro adattatore Hyperway; non si presume che Kathara controlli direttamente l’alimentazione o il link radio. Ritardo, perdita e limitazione di banda richiedono strumenti/configurazioni aggiuntivi. La diagnostica TR-143 è già disponibile nel validator, ma il problema di raggiungibilità del server download deve essere risolto prima di usarla come misura di regressione.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E9124-FF8D-EFF1-0D57-20CB9EF1268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999038" y="6672580"/>
            <a:ext cx="22193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800">
                <a:solidFill>
                  <a:srgbClr val="4472C4">
                    <a:alpha val="50000"/>
                  </a:srgbClr>
                </a:solidFill>
                <a:latin typeface="TIM Sans" panose="02020503040602060503" pitchFamily="18" charset="0"/>
              </a:rPr>
              <a:t>Gruppo TIM - Uso Interno - Tutti i diritti riservati.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REPORT DI AUDIT E CONFORMITÀ TR-069</a:t>
            </a:r>
          </a:p>
          <a:p>
            <a:pPr>
              <a:spcBef>
                <a:spcPts val="1200"/>
              </a:spcBef>
              <a:defRPr sz="1800">
                <a:solidFill>
                  <a:srgbClr val="B4CDED"/>
                </a:solidFill>
                <a:latin typeface="Arial"/>
              </a:defRPr>
            </a:pPr>
            <a:r>
              <a:rPr dirty="0" err="1"/>
              <a:t>Validazione</a:t>
            </a:r>
            <a:r>
              <a:rPr dirty="0"/>
              <a:t> </a:t>
            </a:r>
            <a:r>
              <a:rPr dirty="0" err="1"/>
              <a:t>Protocollo</a:t>
            </a:r>
            <a:r>
              <a:rPr dirty="0"/>
              <a:t> CWMP • CPE TCL 5G (BC9424) • Data Model TR-181</a:t>
            </a:r>
          </a:p>
          <a:p>
            <a:pPr>
              <a:spcBef>
                <a:spcPts val="3600"/>
              </a:spcBef>
              <a:defRPr sz="1200">
                <a:solidFill>
                  <a:srgbClr val="8CA5C3"/>
                </a:solidFill>
                <a:latin typeface="Arial"/>
              </a:defRPr>
            </a:pPr>
            <a:r>
              <a:rPr dirty="0" err="1"/>
              <a:t>Generato</a:t>
            </a:r>
            <a:r>
              <a:rPr dirty="0"/>
              <a:t> da Validator Agent | Data: 17/10/2026 20:05:11</a:t>
            </a:r>
            <a:br>
              <a:rPr dirty="0"/>
            </a:br>
            <a:r>
              <a:rPr dirty="0"/>
              <a:t>Testbed: </a:t>
            </a:r>
            <a:r>
              <a:rPr dirty="0" err="1"/>
              <a:t>ServerCri</a:t>
            </a:r>
            <a:r>
              <a:rPr dirty="0"/>
              <a:t> (</a:t>
            </a:r>
            <a:r>
              <a:rPr dirty="0" err="1"/>
              <a:t>Kathara</a:t>
            </a:r>
            <a:r>
              <a:rPr dirty="0"/>
              <a:t> + </a:t>
            </a:r>
            <a:r>
              <a:rPr dirty="0" err="1"/>
              <a:t>GenieACS</a:t>
            </a:r>
            <a:r>
              <a:rPr dirty="0"/>
              <a:t> + MongoDB)</a:t>
            </a:r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0C0C8-1DEF-5A5C-7644-EB77828764FB}"/>
              </a:ext>
            </a:extLst>
          </p:cNvPr>
          <p:cNvSpPr txBox="1"/>
          <p:nvPr/>
        </p:nvSpPr>
        <p:spPr>
          <a:xfrm>
            <a:off x="8686800" y="5933440"/>
            <a:ext cx="3383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highlight>
                  <a:srgbClr val="FFFF00"/>
                </a:highlight>
              </a:rPr>
              <a:t>Autore: Maria Cristina Rizzani</a:t>
            </a:r>
          </a:p>
          <a:p>
            <a:endParaRPr lang="it-IT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728960" cy="146304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rPr lang="it-IT" sz="3000" b="1" dirty="0">
                <a:solidFill>
                  <a:srgbClr val="FFFFFF"/>
                </a:solidFill>
              </a:rPr>
              <a:t>Risultati test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rPr lang="it-IT" sz="2500" b="0" dirty="0">
                <a:solidFill>
                  <a:srgbClr val="FFFFFF"/>
                </a:solidFill>
              </a:rPr>
              <a:t>TOL, Data model, Log, </a:t>
            </a:r>
            <a:r>
              <a:rPr lang="it-IT" sz="2500" b="0" dirty="0" err="1">
                <a:solidFill>
                  <a:srgbClr val="FFFFFF"/>
                </a:solidFill>
              </a:rPr>
              <a:t>Periodic</a:t>
            </a:r>
            <a:r>
              <a:rPr lang="it-IT" sz="2500" b="0" dirty="0">
                <a:solidFill>
                  <a:srgbClr val="FFFFFF"/>
                </a:solidFill>
              </a:rPr>
              <a:t> </a:t>
            </a:r>
            <a:r>
              <a:rPr lang="it-IT" sz="2500" b="0" dirty="0" err="1">
                <a:solidFill>
                  <a:srgbClr val="FFFFFF"/>
                </a:solidFill>
              </a:rPr>
              <a:t>inform</a:t>
            </a:r>
            <a:endParaRPr lang="it-IT" sz="2500" b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2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  <a:latin typeface="Arial"/>
              </a:defRPr>
            </a:pPr>
            <a:r>
              <a:rPr dirty="0"/>
              <a:t>1. </a:t>
            </a:r>
            <a:r>
              <a:rPr lang="it-IT" dirty="0"/>
              <a:t>TOL TCL</a:t>
            </a: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05F1F7-D5D5-58B7-5DCF-19C72C591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756317"/>
              </p:ext>
            </p:extLst>
          </p:nvPr>
        </p:nvGraphicFramePr>
        <p:xfrm>
          <a:off x="1668864" y="2501900"/>
          <a:ext cx="270933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14780757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70483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 lang="it-IT"/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 lang="it-IT"/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86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lang="it-IT"/>
                        <a:t>Totale casi di test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lang="it-IT"/>
                        <a:t>75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7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lang="it-IT"/>
                        <a:t>Di cui pass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lang="it-IT"/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27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lang="it-IT"/>
                        <a:t>Di cui parziale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lang="it-IT"/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2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lang="it-IT"/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lang="it-IT" dirty="0"/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6737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ABCC895-5FFF-0FD3-2BFD-4CCB86BAFE85}"/>
              </a:ext>
            </a:extLst>
          </p:cNvPr>
          <p:cNvSpPr txBox="1"/>
          <p:nvPr/>
        </p:nvSpPr>
        <p:spPr>
          <a:xfrm>
            <a:off x="1798320" y="5712542"/>
            <a:ext cx="66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Inserire qui note/osservazioni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  <a:latin typeface="Arial"/>
              </a:defRPr>
            </a:pPr>
            <a:r>
              <a:t>2. Data model completo (1/2)</a:t>
            </a:r>
          </a:p>
          <a:p>
            <a:pPr>
              <a:spcBef>
                <a:spcPts val="400"/>
              </a:spcBef>
              <a:defRPr sz="1100">
                <a:solidFill>
                  <a:srgbClr val="6C757D"/>
                </a:solidFill>
                <a:latin typeface="Arial"/>
              </a:defRPr>
            </a:pPr>
            <a:r>
              <a:t>Fonte: cache ACS del CPE. Device:2.13. Ultimo Inform: 2026-10-17T18:05:01.450Z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2542"/>
                </a:solidFill>
              </a:defRPr>
            </a:pPr>
            <a:r>
              <a:t>942 parametri: 814 non vuoti, 128 vuoti, 0 null, 0 non letti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591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Ramo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Parametri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Vuoti / null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Non letti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Device.BulkData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165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Device.Cellular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86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Device.DHCPv4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Device.DNS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Device.DeviceInfo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Device.Ethernet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56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Device.Hosts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Device.IP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289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Device.InterfaceStack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Device.InterfaceStackNumberOfEntries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Device.ManagementServer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Device.NAT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2764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Elenco completo nelle slide successive all'audit. Credenziali oscurate. Un valore presente non implica conformit?.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  <a:latin typeface="Arial"/>
              </a:defRPr>
            </a:pPr>
            <a:r>
              <a:t>2. Data model completo (2/2)</a:t>
            </a:r>
          </a:p>
          <a:p>
            <a:pPr>
              <a:spcBef>
                <a:spcPts val="400"/>
              </a:spcBef>
              <a:defRPr sz="1100">
                <a:solidFill>
                  <a:srgbClr val="6C757D"/>
                </a:solidFill>
                <a:latin typeface="Arial"/>
              </a:defRPr>
            </a:pPr>
            <a:r>
              <a:t>Fonte: cache ACS del CPE. Device:2.13. Ultimo Inform: 2026-10-17T18:05:01.450Z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2542"/>
                </a:solidFill>
              </a:defRPr>
            </a:pPr>
            <a:r>
              <a:t>942 parametri: 814 non vuoti, 128 vuoti, 0 null, 0 non letti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591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Ramo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Parametri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Vuoti / null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Non letti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Device.PPP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Device.RootDataModelVersion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Device.Time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Device.UPnP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Device.Users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Device.VoiceService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Device.WiFi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158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2764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Elenco completo nelle slide successive all'audit. Credenziali oscurate. Un valore presente non implica conformit?.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  <a:latin typeface="Arial"/>
              </a:defRPr>
            </a:pPr>
            <a:r>
              <a:t>3. Operazioni POST CWMP (SetParameterValues)</a:t>
            </a:r>
          </a:p>
          <a:p>
            <a:pPr>
              <a:spcBef>
                <a:spcPts val="400"/>
              </a:spcBef>
              <a:defRPr sz="1100">
                <a:solidFill>
                  <a:srgbClr val="6C757D"/>
                </a:solidFill>
                <a:latin typeface="Arial"/>
              </a:defRPr>
            </a:pPr>
            <a:r>
              <a:t>Modifiche parametri, confronto valori originale/nuovo, tracciamento log e scambio SOAP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542"/>
                </a:solidFill>
                <a:latin typeface="Arial"/>
              </a:defRPr>
            </a:pPr>
            <a:r>
              <a:t>Dettagli Modifica Parametro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Operazione documentata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SetParameterValues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Fonte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Log archiviato mostrato a destra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Valori correnti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Vedere il data model completo nelle slide di dettaglio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Generazione report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Nessuna modifica ai parametri del CPE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542"/>
                </a:solidFill>
                <a:latin typeface="Arial"/>
              </a:defRPr>
            </a:pPr>
            <a:r>
              <a:t>Contenuto del Log di Audit SOAP</a:t>
            </a:r>
          </a:p>
          <a:p>
            <a:pPr>
              <a:spcBef>
                <a:spcPts val="600"/>
              </a:spcBef>
              <a:defRPr sz="850">
                <a:solidFill>
                  <a:srgbClr val="1E1E1E"/>
                </a:solidFill>
                <a:latin typeface="Courier New"/>
              </a:defRPr>
            </a:pPr>
            <a:r>
              <a:t>=== SET PARAM AUDIT ===</a:t>
            </a:r>
            <a:br/>
            <a:r>
              <a:t>Parametro: Device.ManagementServer.PeriodicInformInterval</a:t>
            </a:r>
            <a:br/>
            <a:r>
              <a:t>Valore: 120</a:t>
            </a:r>
            <a:br/>
            <a:r>
              <a:t>Esito: PASS</a:t>
            </a:r>
            <a:br/>
            <a:br/>
            <a:r>
              <a:t>--- ACS -&gt; CPE ---</a:t>
            </a:r>
            <a:br/>
            <a:r>
              <a:t>&lt;cwmp:SetParameterValues&gt;&lt;ParameterList soap-enc:arrayType="cwmp:ParameterValueStruct[1]"&gt;&lt;ParameterValueStruct&gt;&lt;Name&gt;Device.ManagementServer.PeriodicInformInterval&lt;/Name&gt;&lt;Value xsi:type="xsd:unsignedInt"&gt;120&lt;/Value&gt;&lt;/ParameterValueStruct&gt;&lt;/ParameterList&gt;&lt;ParameterKey&gt;&lt;/ParameterKey&gt;&lt;/cwmp:SetParameterValues&gt;</a:t>
            </a:r>
            <a:br/>
            <a:br/>
            <a:r>
              <a:t>--- CPE -&gt; ACS ---</a:t>
            </a:r>
            <a:br/>
            <a:r>
              <a:t>&lt;cwmp:SetParameterValuesResponse&gt;</a:t>
            </a:r>
            <a:br/>
            <a:r>
              <a:t>    &lt;Status&gt;0&lt;/Status&gt;</a:t>
            </a:r>
            <a:br/>
            <a:r>
              <a:t>   &lt;/cwmp:SetParameterValuesResponse&gt;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  <a:latin typeface="Arial"/>
              </a:defRPr>
            </a:pPr>
            <a:r>
              <a:t>4. Verifica Cadenza Periodic Inform &amp; Analisi Jitter</a:t>
            </a:r>
          </a:p>
          <a:p>
            <a:pPr>
              <a:spcBef>
                <a:spcPts val="400"/>
              </a:spcBef>
              <a:defRPr sz="1100">
                <a:solidFill>
                  <a:srgbClr val="6C757D"/>
                </a:solidFill>
                <a:latin typeface="Arial"/>
              </a:defRPr>
            </a:pPr>
            <a:r>
              <a:t>Validazione intervallo di notifica periodica, campioni analizzati ed esito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542"/>
                </a:solidFill>
                <a:latin typeface="Arial"/>
              </a:defRPr>
            </a:pPr>
            <a:r>
              <a:t>Metriche Periodicità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Parametro monitorato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Device.ManagementServer.PeriodicInformTime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Intervallo corrente ACS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30 secondi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Campioni e tolleranza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Riportati nel log di osservazione a destra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Esito della verifica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Fare riferimento al verdetto del log</a:t>
            </a:r>
          </a:p>
          <a:p>
            <a:pPr>
              <a:spcBef>
                <a:spcPts val="800"/>
              </a:spcBef>
              <a:defRPr sz="1000" b="1">
                <a:solidFill>
                  <a:srgbClr val="212529"/>
                </a:solidFill>
              </a:defRPr>
            </a:pPr>
            <a:r>
              <a:t>Fonte evidenza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periodic_inform_audit.log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542"/>
                </a:solidFill>
                <a:latin typeface="Arial"/>
              </a:defRPr>
            </a:pPr>
            <a:r>
              <a:t>Log verifica Inform (periodic_inform_audit.log)</a:t>
            </a:r>
          </a:p>
          <a:p>
            <a:pPr>
              <a:spcBef>
                <a:spcPts val="600"/>
              </a:spcBef>
              <a:defRPr sz="850">
                <a:solidFill>
                  <a:srgbClr val="1E1E1E"/>
                </a:solidFill>
                <a:latin typeface="Courier New"/>
              </a:defRPr>
            </a:pPr>
            <a:r>
              <a:t>AUDIT PERIODIC INFORM - PCAP E RISPOSTE ACS</a:t>
            </a:r>
            <a:br/>
            <a:r>
              <a:t>Fonte: logs/tol_tcl_20261017T175850Z/periodic/periodic_inform.pcap</a:t>
            </a:r>
            <a:br/>
            <a:r>
              <a:t>SHA256: 913fac6000ef943f13eb3acd6a1abd066357e71c9732d0a04db9b048e681d505</a:t>
            </a:r>
            <a:br/>
            <a:r>
              <a:t>Intervallo atteso: 30 s; tolleranza +/-5 s</a:t>
            </a:r>
            <a:br/>
            <a:r>
              <a:t>Tre Inform 2 PERIODIC con rispettiva InformResponse HTTP 200; retry=0 richiesto.</a:t>
            </a:r>
            <a:br/>
            <a:r>
              <a:t>1: 2026-10-17T18:02:31.200955+00:00 frame 6/8, delta riferimento, retry 0</a:t>
            </a:r>
            <a:br/>
            <a:r>
              <a:t>2: 2026-10-17T18:03:01.209769+00:00 frame 21/23, delta 30.008814 s, retry 0</a:t>
            </a:r>
            <a:br/>
            <a:r>
              <a:t>3: 2026-10-17T18:03:31.221996+00:00 frame 36/38, delta 30.012227 s, retry 0</a:t>
            </a:r>
            <a:br/>
            <a:r>
              <a:t>VERDETTO: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  <a:latin typeface="Arial"/>
              </a:defRPr>
            </a:pPr>
            <a:r>
              <a:rPr lang="it-IT" dirty="0"/>
              <a:t>4.</a:t>
            </a:r>
            <a:r>
              <a:rPr dirty="0"/>
              <a:t>Periodic Inform: </a:t>
            </a:r>
            <a:r>
              <a:rPr dirty="0" err="1"/>
              <a:t>evidenza</a:t>
            </a:r>
            <a:r>
              <a:rPr dirty="0"/>
              <a:t> PCAP</a:t>
            </a:r>
          </a:p>
          <a:p>
            <a:pPr>
              <a:spcBef>
                <a:spcPts val="400"/>
              </a:spcBef>
              <a:defRPr sz="1100">
                <a:solidFill>
                  <a:srgbClr val="6C757D"/>
                </a:solidFill>
                <a:latin typeface="Arial"/>
              </a:defRPr>
            </a:pP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</a:t>
            </a:r>
            <a:r>
              <a:rPr dirty="0" err="1"/>
              <a:t>traffico</a:t>
            </a:r>
            <a:r>
              <a:rPr dirty="0"/>
              <a:t> CWMP del CPE; due </a:t>
            </a:r>
            <a:r>
              <a:rPr dirty="0" err="1"/>
              <a:t>cicli</a:t>
            </a:r>
            <a:r>
              <a:rPr dirty="0"/>
              <a:t> </a:t>
            </a:r>
            <a:r>
              <a:rPr dirty="0" err="1"/>
              <a:t>completi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Timestamp UTC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Frame req/risp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TCP stream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Delta (s)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Evento / risposta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2026-10-17T18:02:31.200955+00:00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6 / 8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 PERIODIC</a:t>
                      </a:r>
                    </a:p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HTTP 200; retry 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2026-10-17T18:03:01.209769+00:00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21 / 23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30.008814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 PERIODIC</a:t>
                      </a:r>
                    </a:p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HTTP 200; retry 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2026-10-17T18:03:31.221996+00:00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36 / 38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30.012227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 PERIODIC</a:t>
                      </a:r>
                    </a:p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HTTP 200; retry 0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7259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A745"/>
                </a:solidFill>
                <a:latin typeface="Arial"/>
              </a:defRPr>
            </a:pPr>
            <a:r>
              <a:t>PASS: intervallo atteso 30 s; tolleranza +/-5 s.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PCAP: logs/tol_tcl_20261017T175850Z/periodic/periodic_inform.pcap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SHA256: 913fac6000ef943f13eb3acd6a1abd066357e71c9732d0a04db9b048e681d505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Cattura: 2026-10-17T18:02:03.822056+00:00 - 2026-10-17T18:03:31+00:00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Sono conservate soltanto le sessioni dei tre Inform. Numeri frame riferiti al PCAP estratto.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C2D9-E88B-62CF-5E72-C913D520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3C537F-0255-B379-17D4-D7ED49A34B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B194A-3C5F-28E4-688E-7398238EA401}"/>
              </a:ext>
            </a:extLst>
          </p:cNvPr>
          <p:cNvSpPr txBox="1"/>
          <p:nvPr/>
        </p:nvSpPr>
        <p:spPr>
          <a:xfrm>
            <a:off x="731520" y="2697480"/>
            <a:ext cx="10728960" cy="146304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rPr lang="it-IT" sz="3000" b="1" dirty="0">
                <a:solidFill>
                  <a:srgbClr val="FFFFFF"/>
                </a:solidFill>
              </a:rPr>
              <a:t>Architettura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rPr lang="it-IT" sz="2500" b="0" dirty="0">
                <a:solidFill>
                  <a:srgbClr val="FFFFFF"/>
                </a:solidFill>
              </a:rPr>
              <a:t>Architettura logica e Flussi operativi</a:t>
            </a:r>
          </a:p>
        </p:txBody>
      </p:sp>
    </p:spTree>
    <p:extLst>
      <p:ext uri="{BB962C8B-B14F-4D97-AF65-F5344CB8AC3E}">
        <p14:creationId xmlns:p14="http://schemas.microsoft.com/office/powerpoint/2010/main" val="190746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6400800" y="4773168"/>
            <a:ext cx="1508760" cy="0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26080" y="4773168"/>
            <a:ext cx="1051559" cy="0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764792" y="3401568"/>
            <a:ext cx="0" cy="576071"/>
          </a:xfrm>
          <a:prstGeom prst="line">
            <a:avLst/>
          </a:prstGeom>
          <a:ln w="20320">
            <a:solidFill>
              <a:srgbClr val="6C757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764792" y="3401568"/>
            <a:ext cx="1664208" cy="0"/>
          </a:xfrm>
          <a:prstGeom prst="line">
            <a:avLst/>
          </a:prstGeom>
          <a:ln w="20320">
            <a:solidFill>
              <a:srgbClr val="6C757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29000" y="2286000"/>
            <a:ext cx="0" cy="1115568"/>
          </a:xfrm>
          <a:prstGeom prst="line">
            <a:avLst/>
          </a:prstGeom>
          <a:ln w="20320">
            <a:solidFill>
              <a:srgbClr val="6C757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93792" y="2971800"/>
            <a:ext cx="0" cy="1005839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00800" y="2286000"/>
            <a:ext cx="1508760" cy="0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26080" y="2286000"/>
            <a:ext cx="1051559" cy="0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365760"/>
            <a:ext cx="1074420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102542"/>
                </a:solidFill>
                <a:latin typeface="Arial"/>
              </a:defRPr>
            </a:pPr>
            <a:r>
              <a:t>5. Architettura del sistema TR-069/TR-181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96112"/>
            <a:ext cx="1074420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6C757D"/>
                </a:solidFill>
                <a:latin typeface="Arial"/>
              </a:defRPr>
            </a:pPr>
            <a:r>
              <a:t>ServerCri ospita Kathara/Docker, GenieACS, MongoDB e il validator. La CPE comunica con l’ACS via CWMP.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1600200"/>
            <a:ext cx="2331720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CPE TCL 5G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Agente CWMP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Data model Device:2.13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Inform e lettura/scrittura parametri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1600200"/>
            <a:ext cx="2423160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GenieACS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Sessioni CWMP, porta 7557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Task, provisioning e cache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Log delle sessioni CWMP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1600200"/>
            <a:ext cx="3566160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MongoDB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Persistenza interna di GenieACS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Dispositivi, task e configurazione ACS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Il validator accede ai dati tramite NBI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977639"/>
            <a:ext cx="2331720" cy="1554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tcpdump / tshark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tcpdump acquisisce il traffico CWMP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tshark decodifica SOAP e filtra le sessioni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PCAP e frame delle risposte ACS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3977639"/>
            <a:ext cx="2423160" cy="1554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Validator Python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API NBI HTTP/JSON, porta 7547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TOL e verifica dei valori TR-181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Correlazione PCAP e log ACS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977639"/>
            <a:ext cx="3566160" cy="1554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Output nella cartella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Excel TOL e data model, JSON e log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PCAP dei tre Inform con SHA-256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PPTX con risultati ed evidenze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9504" y="1856231"/>
            <a:ext cx="112471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900" b="1">
                <a:solidFill>
                  <a:srgbClr val="102542"/>
                </a:solidFill>
                <a:latin typeface="Arial"/>
              </a:defRPr>
            </a:pPr>
            <a:r>
              <a:t>CWMP / SOAP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1856231"/>
            <a:ext cx="14173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900" b="1">
                <a:solidFill>
                  <a:srgbClr val="102542"/>
                </a:solidFill>
                <a:latin typeface="Arial"/>
              </a:defRPr>
            </a:pPr>
            <a:r>
              <a:t>Persistenza ACS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5232" y="3310128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102542"/>
                </a:solidFill>
                <a:latin typeface="Arial"/>
              </a:defRPr>
            </a:pPr>
            <a:r>
              <a:t>NBI :7547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063240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6C757D"/>
                </a:solidFill>
                <a:latin typeface="Arial"/>
              </a:defRPr>
            </a:pPr>
            <a:r>
              <a:t>Copia passiva del traffico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0088" y="4407408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900" b="1">
                <a:solidFill>
                  <a:srgbClr val="102542"/>
                </a:solidFill>
                <a:latin typeface="Arial"/>
              </a:defRPr>
            </a:pPr>
            <a:r>
              <a:t>Evidenza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9672" y="4407408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900" b="1">
                <a:solidFill>
                  <a:srgbClr val="102542"/>
                </a:solidFill>
                <a:latin typeface="Arial"/>
              </a:defRPr>
            </a:pPr>
            <a:r>
              <a:t>Esportazione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1558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Rete Kathara: collegamento esterno enp3s0, rete CPE e rete interna di gestione ACS–MongoDB.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254496"/>
            <a:ext cx="10698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6C757D"/>
                </a:solidFill>
                <a:latin typeface="Arial"/>
              </a:defRPr>
            </a:pPr>
            <a:r>
              <a:t>Wireshark offre la vista grafica del PCAP. La cattura automatica usa un helper Docker temporaneo sulla rete host.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9592056" y="2816352"/>
            <a:ext cx="219456" cy="0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87768" y="2816352"/>
            <a:ext cx="219456" cy="0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83479" y="2816352"/>
            <a:ext cx="219457" cy="0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79191" y="2816352"/>
            <a:ext cx="219457" cy="0"/>
          </a:xfrm>
          <a:prstGeom prst="line">
            <a:avLst/>
          </a:prstGeom>
          <a:ln w="2032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65760"/>
            <a:ext cx="1074420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102542"/>
                </a:solidFill>
                <a:latin typeface="Arial"/>
              </a:defRPr>
            </a:pPr>
            <a:r>
              <a:t>5. Flusso di test e raccolta delle evidenze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896112"/>
            <a:ext cx="1074420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6C757D"/>
                </a:solidFill>
                <a:latin typeface="Arial"/>
              </a:defRPr>
            </a:pPr>
            <a:r>
              <a:t>Il flusso standard legge i parametri. L’opzione --tol-active abilita soltanto le prove reversibili previste.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1691640"/>
            <a:ext cx="2084831" cy="2240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1. Preparazione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Un solo CPE e nessun task pendente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Valori attesi da test.xlsx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TOL originale: colonne A–I conservate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8648" y="1691640"/>
            <a:ext cx="2084831" cy="2240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2. Modello e TOL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GPV tramite GenieACS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Valori, tipi e campi vuoti distinti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NTP in sola lettura, IMS non eseguito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02936" y="1691640"/>
            <a:ext cx="2084831" cy="2240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3. SET opzionali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Salvataggio del valore iniziale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SET seguito da GPV di verifica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Ripristino e controllo finale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07224" y="1691640"/>
            <a:ext cx="2084831" cy="2240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4. Prova periodica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tcpdump acquisisce tre Inform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tshark associa le risposte ACS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Due intervalli, evento 2 PERIODIC e retry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11512" y="1691640"/>
            <a:ext cx="2084831" cy="2240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73152"/>
          <a:lstStyle/>
          <a:p>
            <a:pPr algn="ctr">
              <a:spcAft>
                <a:spcPts val="900"/>
              </a:spcAft>
              <a:defRPr sz="1400" b="1">
                <a:solidFill>
                  <a:srgbClr val="102542"/>
                </a:solidFill>
                <a:latin typeface="Arial"/>
              </a:defRPr>
            </a:pPr>
            <a:r>
              <a:t>5. Esiti e file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Confronto atteso / rilevato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Validazioni utente distinte dai test automatici</a:t>
            </a:r>
          </a:p>
          <a:p>
            <a:pPr>
              <a:spcAft>
                <a:spcPts val="3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Excel, JSON, log, PCAP e 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02542"/>
                </a:solidFill>
                <a:latin typeface="Arial"/>
              </a:defRPr>
            </a:pPr>
            <a:r>
              <a:t>Verifica della cadenza a 30 secondi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28032"/>
            <a:ext cx="502920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12529"/>
                </a:solidFill>
                <a:latin typeface="Arial"/>
              </a:defRPr>
            </a:pPr>
            <a:r>
              <a:t>Tre richieste Inform e tre InformResponse HTTP 200.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12529"/>
                </a:solidFill>
                <a:latin typeface="Arial"/>
              </a:defRPr>
            </a:pPr>
            <a:r>
              <a:t>Due delta entro ±5 s. Identità CPE, configurazione e data della cattura coerenti.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43400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02542"/>
                </a:solidFill>
                <a:latin typeface="Arial"/>
              </a:defRPr>
            </a:pPr>
            <a:r>
              <a:t>Evidenze riproducibili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28032"/>
            <a:ext cx="498348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12529"/>
                </a:solidFill>
                <a:latin typeface="Arial"/>
              </a:defRPr>
            </a:pPr>
            <a:r>
              <a:t>Frame e timestamp nel PPTX. Sessioni CWMP nel PCAP filtrato.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12529"/>
                </a:solidFill>
                <a:latin typeface="Arial"/>
              </a:defRPr>
            </a:pPr>
            <a:r>
              <a:t>SHA-256 e correlazione con cwmp.log. Dati sensibili oscurati nei report.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345936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6C757D"/>
                </a:solidFill>
                <a:latin typeface="Arial"/>
              </a:defRPr>
            </a:pPr>
            <a:r>
              <a:t>Il validator usa il laboratorio esistente. Rimuove soltanto il proprio helper di cattura e conserva i risultati di ogni esecuzione.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4C48-2A40-CB61-6877-757E512F5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1E57A1-1407-00FB-547C-A4DC476F67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6. Sviluppi futuri: Hyperway IDU–ODU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B4CDED"/>
                </a:solidFill>
                <a:latin typeface="Arial"/>
              </a:defRPr>
            </a:pPr>
            <a:r>
              <a:t>Matrice di accensione proposta: 2 ordini × 2 ritardi = 4 casi per coppia di apparati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Stato iniziale di ogni caso: A = IDU e B = ODU, entrambi spenti.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606040"/>
          <a:ext cx="10698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108960"/>
                <a:gridCol w="2286000"/>
                <a:gridCol w="4297680"/>
              </a:tblGrid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Caso</a:t>
                      </a:r>
                    </a:p>
                  </a:txBody>
                  <a:tcPr marL="64008" marR="64008" marT="41148" marB="41148" anchor="ctr">
                    <a:solidFill>
                      <a:srgbClr val="294B7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 accensione</a:t>
                      </a:r>
                    </a:p>
                  </a:txBody>
                  <a:tcPr marL="64008" marR="64008" marT="41148" marB="41148" anchor="ctr">
                    <a:solidFill>
                      <a:srgbClr val="294B7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Attesa</a:t>
                      </a:r>
                    </a:p>
                  </a:txBody>
                  <a:tcPr marL="64008" marR="64008" marT="41148" marB="41148" anchor="ctr">
                    <a:solidFill>
                      <a:srgbClr val="294B7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Seconda accensione</a:t>
                      </a:r>
                    </a:p>
                  </a:txBody>
                  <a:tcPr marL="64008" marR="64008" marT="41148" marB="41148" anchor="ctr">
                    <a:solidFill>
                      <a:srgbClr val="294B7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H01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 · IDU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5 secondi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 · ODU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H02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 · IDU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5 minuti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 · ODU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H03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 · ODU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5 secondi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 · IDU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H04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 · ODU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5 minuti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 · IDU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956048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Criterio di successo da configurare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9824"/>
            <a:ext cx="51206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B4CDED"/>
                </a:solidFill>
                <a:latin typeface="Arial"/>
              </a:defRPr>
            </a:pPr>
            <a:r>
              <a:t>Collegamento IDU–ODU e scambio dati entro il timeout concordato. Registrare tempo di aggancio e stabilità.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956048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Integrazione futura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5449824"/>
            <a:ext cx="498348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B4CDED"/>
                </a:solidFill>
                <a:latin typeface="Arial"/>
              </a:defRPr>
            </a:pPr>
            <a:r>
              <a:t>Controllo alimentazione via PDU o relè compatibile, misura dei tempi reali, log e PCAP. Ripetizioni per ogni coppia e firmware.</a:t>
            </a:r>
          </a:p>
        </p:txBody>
      </p:sp>
    </p:spTree>
    <p:extLst>
      <p:ext uri="{BB962C8B-B14F-4D97-AF65-F5344CB8AC3E}">
        <p14:creationId xmlns:p14="http://schemas.microsoft.com/office/powerpoint/2010/main" val="1209086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214B-68E7-562C-F9F4-4E8DE16F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685BA6-64F4-9E5F-F4D8-9864BCDA257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4420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102542"/>
                </a:solidFill>
                <a:latin typeface="Arial"/>
              </a:defRPr>
            </a:pPr>
            <a:r>
              <a:t>6. Sviluppi futuri: cadute di rete e regressione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74420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6C757D"/>
                </a:solidFill>
                <a:latin typeface="Arial"/>
              </a:defRPr>
            </a:pPr>
            <a:r>
              <a:t>Kathara può ospitare gli scenari controllati. Automazione dei guasti e criteri di esito richiedono una nuova integrazione.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69494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37744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 proposto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Stimolo controllato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Verifica al ripristino</a:t>
                      </a:r>
                    </a:p>
                  </a:txBody>
                  <a:tcPr marL="64008" marR="64008" marT="41148" marB="41148" anchor="ctr">
                    <a:solidFill>
                      <a:srgbClr val="10254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ACS non raggiungibile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Interruzione del percorso CPE–ACS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Ripresa degli Inform e GPV riuscita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Collegamento IDU–ODU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Caduta e ritorno del link, se controllabile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Nuovo aggancio e scambio dati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DNS non disponibile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Blocco del resolver nella rete di prova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Risoluzione e accesso al servizio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Rete degradata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Ritardo, perdita o banda limitata con strumenti dedicati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Retry, tempo di recupero e stabilità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38160" y="1618488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02542"/>
                </a:solidFill>
                <a:latin typeface="Arial"/>
              </a:defRPr>
            </a:pPr>
            <a:r>
              <a:t>Sequenza di ogni prova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221992"/>
            <a:ext cx="3337560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1. Verifica iniziale del servizio.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2. Introduzione del guasto con durata definita.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3. Osservazione di errori e riconnessioni.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4. Ripristino della rete.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5. Verifica del recupero entro il timeout.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02542"/>
                </a:solidFill>
                <a:latin typeface="Arial"/>
              </a:defRPr>
            </a:pPr>
            <a:r>
              <a:t>Altri utilizzi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50992"/>
            <a:ext cx="106984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Confronto fra firmware o modelli CPE, prove ripetute di stabilità, variazione dei contatori e TR-143 prima/dopo il guasto. Ogni caso conserva configurazione iniziale, tempi, log e PCAP.</a:t>
            </a:r>
          </a:p>
        </p:txBody>
      </p:sp>
    </p:spTree>
    <p:extLst>
      <p:ext uri="{BB962C8B-B14F-4D97-AF65-F5344CB8AC3E}">
        <p14:creationId xmlns:p14="http://schemas.microsoft.com/office/powerpoint/2010/main" val="1374333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6986fb0-3baa-42d2-89d5-89f9b25e6ac9}" enabled="1" method="Standard" siteId="{6815f468-021c-48f2-a6b2-d65c8e979df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1497</Words>
  <Application>Microsoft Office PowerPoint</Application>
  <PresentationFormat>Widescreen</PresentationFormat>
  <Paragraphs>254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 Sans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Rizzani Maria Cristina</cp:lastModifiedBy>
  <cp:revision>6</cp:revision>
  <dcterms:created xsi:type="dcterms:W3CDTF">2013-01-27T09:14:16Z</dcterms:created>
  <dcterms:modified xsi:type="dcterms:W3CDTF">2026-10-18T08:20:40Z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Gruppo TIM - Uso Interno - Tutti i diritti riservati.</vt:lpwstr>
  </property>
</Properties>
</file>